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5" r:id="rId4"/>
    <p:sldId id="274" r:id="rId5"/>
    <p:sldId id="273" r:id="rId6"/>
    <p:sldId id="276" r:id="rId7"/>
    <p:sldId id="277" r:id="rId8"/>
    <p:sldId id="258" r:id="rId9"/>
    <p:sldId id="278" r:id="rId10"/>
    <p:sldId id="268" r:id="rId11"/>
    <p:sldId id="264" r:id="rId12"/>
    <p:sldId id="279" r:id="rId13"/>
    <p:sldId id="282" r:id="rId14"/>
    <p:sldId id="280" r:id="rId15"/>
    <p:sldId id="271" r:id="rId16"/>
    <p:sldId id="272" r:id="rId17"/>
    <p:sldId id="259" r:id="rId18"/>
    <p:sldId id="283" r:id="rId19"/>
    <p:sldId id="261" r:id="rId20"/>
    <p:sldId id="263" r:id="rId21"/>
    <p:sldId id="28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832E"/>
    <a:srgbClr val="9871C1"/>
    <a:srgbClr val="B42D2E"/>
    <a:srgbClr val="A5CD93"/>
    <a:srgbClr val="4B6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1F6ABD-5C33-4556-BB1E-600A48CE8D51}" v="108" dt="2024-12-13T19:59:49.0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084" autoAdjust="0"/>
  </p:normalViewPr>
  <p:slideViewPr>
    <p:cSldViewPr snapToGrid="0" showGuides="1">
      <p:cViewPr varScale="1">
        <p:scale>
          <a:sx n="83" d="100"/>
          <a:sy n="83" d="100"/>
        </p:scale>
        <p:origin x="1554" y="3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rrado Locati" userId="e0cfe5414333f21b" providerId="LiveId" clId="{181F6ABD-5C33-4556-BB1E-600A48CE8D51}"/>
    <pc:docChg chg="undo redo custSel addSld delSld modSld sldOrd">
      <pc:chgData name="Corrado Locati" userId="e0cfe5414333f21b" providerId="LiveId" clId="{181F6ABD-5C33-4556-BB1E-600A48CE8D51}" dt="2025-06-24T07:18:18.644" v="2983" actId="313"/>
      <pc:docMkLst>
        <pc:docMk/>
      </pc:docMkLst>
      <pc:sldChg chg="modSp new mod">
        <pc:chgData name="Corrado Locati" userId="e0cfe5414333f21b" providerId="LiveId" clId="{181F6ABD-5C33-4556-BB1E-600A48CE8D51}" dt="2024-12-12T14:03:11.045" v="59" actId="20577"/>
        <pc:sldMkLst>
          <pc:docMk/>
          <pc:sldMk cId="4047827780" sldId="256"/>
        </pc:sldMkLst>
      </pc:sldChg>
      <pc:sldChg chg="addSp delSp modSp new mod modClrScheme chgLayout">
        <pc:chgData name="Corrado Locati" userId="e0cfe5414333f21b" providerId="LiveId" clId="{181F6ABD-5C33-4556-BB1E-600A48CE8D51}" dt="2025-06-24T07:18:18.644" v="2983" actId="313"/>
        <pc:sldMkLst>
          <pc:docMk/>
          <pc:sldMk cId="3818258907" sldId="257"/>
        </pc:sldMkLst>
        <pc:spChg chg="add mod ord">
          <ac:chgData name="Corrado Locati" userId="e0cfe5414333f21b" providerId="LiveId" clId="{181F6ABD-5C33-4556-BB1E-600A48CE8D51}" dt="2025-06-24T07:18:18.644" v="2983" actId="313"/>
          <ac:spMkLst>
            <pc:docMk/>
            <pc:sldMk cId="3818258907" sldId="257"/>
            <ac:spMk id="2" creationId="{A80FA1F7-56F3-277F-3B86-16970D8FCA43}"/>
          </ac:spMkLst>
        </pc:spChg>
      </pc:sldChg>
      <pc:sldChg chg="addSp delSp modSp add mod modClrScheme chgLayout">
        <pc:chgData name="Corrado Locati" userId="e0cfe5414333f21b" providerId="LiveId" clId="{181F6ABD-5C33-4556-BB1E-600A48CE8D51}" dt="2024-12-13T19:59:04.300" v="2914"/>
        <pc:sldMkLst>
          <pc:docMk/>
          <pc:sldMk cId="418241791" sldId="258"/>
        </pc:sldMkLst>
      </pc:sldChg>
      <pc:sldChg chg="addSp delSp modSp new mod ord modClrScheme chgLayout modNotesTx">
        <pc:chgData name="Corrado Locati" userId="e0cfe5414333f21b" providerId="LiveId" clId="{181F6ABD-5C33-4556-BB1E-600A48CE8D51}" dt="2024-12-13T19:29:25.241" v="2875" actId="20577"/>
        <pc:sldMkLst>
          <pc:docMk/>
          <pc:sldMk cId="1009044100" sldId="259"/>
        </pc:sldMkLst>
      </pc:sldChg>
      <pc:sldChg chg="addSp modSp new del mod">
        <pc:chgData name="Corrado Locati" userId="e0cfe5414333f21b" providerId="LiveId" clId="{181F6ABD-5C33-4556-BB1E-600A48CE8D51}" dt="2024-12-13T18:34:54.765" v="2824" actId="47"/>
        <pc:sldMkLst>
          <pc:docMk/>
          <pc:sldMk cId="1414331555" sldId="260"/>
        </pc:sldMkLst>
      </pc:sldChg>
      <pc:sldChg chg="addSp delSp modSp new mod modClrScheme chgLayout">
        <pc:chgData name="Corrado Locati" userId="e0cfe5414333f21b" providerId="LiveId" clId="{181F6ABD-5C33-4556-BB1E-600A48CE8D51}" dt="2024-12-13T18:16:27.749" v="2141" actId="1076"/>
        <pc:sldMkLst>
          <pc:docMk/>
          <pc:sldMk cId="4216362765" sldId="261"/>
        </pc:sldMkLst>
      </pc:sldChg>
      <pc:sldChg chg="addSp modSp new del mod">
        <pc:chgData name="Corrado Locati" userId="e0cfe5414333f21b" providerId="LiveId" clId="{181F6ABD-5C33-4556-BB1E-600A48CE8D51}" dt="2024-12-13T18:34:57.890" v="2825" actId="47"/>
        <pc:sldMkLst>
          <pc:docMk/>
          <pc:sldMk cId="1510894190" sldId="262"/>
        </pc:sldMkLst>
      </pc:sldChg>
      <pc:sldChg chg="addSp delSp modSp new mod modClrScheme chgLayout">
        <pc:chgData name="Corrado Locati" userId="e0cfe5414333f21b" providerId="LiveId" clId="{181F6ABD-5C33-4556-BB1E-600A48CE8D51}" dt="2024-12-13T20:01:48.254" v="2974" actId="20577"/>
        <pc:sldMkLst>
          <pc:docMk/>
          <pc:sldMk cId="3110743401" sldId="263"/>
        </pc:sldMkLst>
      </pc:sldChg>
      <pc:sldChg chg="addSp delSp modSp new mod modClrScheme chgLayout">
        <pc:chgData name="Corrado Locati" userId="e0cfe5414333f21b" providerId="LiveId" clId="{181F6ABD-5C33-4556-BB1E-600A48CE8D51}" dt="2024-12-13T20:00:30.753" v="2965" actId="6549"/>
        <pc:sldMkLst>
          <pc:docMk/>
          <pc:sldMk cId="926177761" sldId="264"/>
        </pc:sldMkLst>
      </pc:sldChg>
      <pc:sldChg chg="addSp new del mod">
        <pc:chgData name="Corrado Locati" userId="e0cfe5414333f21b" providerId="LiveId" clId="{181F6ABD-5C33-4556-BB1E-600A48CE8D51}" dt="2024-12-13T17:13:17.236" v="1184" actId="47"/>
        <pc:sldMkLst>
          <pc:docMk/>
          <pc:sldMk cId="3720948712" sldId="265"/>
        </pc:sldMkLst>
      </pc:sldChg>
      <pc:sldChg chg="addSp delSp modSp new del mod">
        <pc:chgData name="Corrado Locati" userId="e0cfe5414333f21b" providerId="LiveId" clId="{181F6ABD-5C33-4556-BB1E-600A48CE8D51}" dt="2024-12-13T17:13:18.681" v="1185" actId="47"/>
        <pc:sldMkLst>
          <pc:docMk/>
          <pc:sldMk cId="3947397350" sldId="266"/>
        </pc:sldMkLst>
      </pc:sldChg>
      <pc:sldChg chg="addSp delSp modSp new del mod">
        <pc:chgData name="Corrado Locati" userId="e0cfe5414333f21b" providerId="LiveId" clId="{181F6ABD-5C33-4556-BB1E-600A48CE8D51}" dt="2024-12-13T17:13:20.410" v="1186" actId="47"/>
        <pc:sldMkLst>
          <pc:docMk/>
          <pc:sldMk cId="3744461488" sldId="267"/>
        </pc:sldMkLst>
      </pc:sldChg>
      <pc:sldChg chg="addSp delSp modSp new mod ord modClrScheme chgLayout">
        <pc:chgData name="Corrado Locati" userId="e0cfe5414333f21b" providerId="LiveId" clId="{181F6ABD-5C33-4556-BB1E-600A48CE8D51}" dt="2024-12-13T20:10:20.888" v="2982" actId="20577"/>
        <pc:sldMkLst>
          <pc:docMk/>
          <pc:sldMk cId="1997321460" sldId="268"/>
        </pc:sldMkLst>
      </pc:sldChg>
      <pc:sldChg chg="addSp delSp modSp new del mod ord modClrScheme chgLayout">
        <pc:chgData name="Corrado Locati" userId="e0cfe5414333f21b" providerId="LiveId" clId="{181F6ABD-5C33-4556-BB1E-600A48CE8D51}" dt="2024-12-13T17:31:11.515" v="1606" actId="47"/>
        <pc:sldMkLst>
          <pc:docMk/>
          <pc:sldMk cId="1553428641" sldId="269"/>
        </pc:sldMkLst>
      </pc:sldChg>
      <pc:sldChg chg="addSp modSp new del mod">
        <pc:chgData name="Corrado Locati" userId="e0cfe5414333f21b" providerId="LiveId" clId="{181F6ABD-5C33-4556-BB1E-600A48CE8D51}" dt="2024-12-13T17:31:09.686" v="1605" actId="47"/>
        <pc:sldMkLst>
          <pc:docMk/>
          <pc:sldMk cId="1992803442" sldId="270"/>
        </pc:sldMkLst>
      </pc:sldChg>
      <pc:sldChg chg="addSp delSp modSp new mod modNotesTx">
        <pc:chgData name="Corrado Locati" userId="e0cfe5414333f21b" providerId="LiveId" clId="{181F6ABD-5C33-4556-BB1E-600A48CE8D51}" dt="2024-12-13T19:31:39.274" v="2900" actId="1076"/>
        <pc:sldMkLst>
          <pc:docMk/>
          <pc:sldMk cId="995477705" sldId="271"/>
        </pc:sldMkLst>
      </pc:sldChg>
      <pc:sldChg chg="addSp delSp modSp new mod modClrScheme chgLayout">
        <pc:chgData name="Corrado Locati" userId="e0cfe5414333f21b" providerId="LiveId" clId="{181F6ABD-5C33-4556-BB1E-600A48CE8D51}" dt="2024-12-13T20:01:04.886" v="2967" actId="20577"/>
        <pc:sldMkLst>
          <pc:docMk/>
          <pc:sldMk cId="94116961" sldId="272"/>
        </pc:sldMkLst>
      </pc:sldChg>
      <pc:sldChg chg="addSp delSp modSp new mod modClrScheme chgLayout">
        <pc:chgData name="Corrado Locati" userId="e0cfe5414333f21b" providerId="LiveId" clId="{181F6ABD-5C33-4556-BB1E-600A48CE8D51}" dt="2024-12-13T19:58:12.965" v="2906" actId="20577"/>
        <pc:sldMkLst>
          <pc:docMk/>
          <pc:sldMk cId="450982715" sldId="273"/>
        </pc:sldMkLst>
      </pc:sldChg>
      <pc:sldChg chg="delSp modSp add mod">
        <pc:chgData name="Corrado Locati" userId="e0cfe5414333f21b" providerId="LiveId" clId="{181F6ABD-5C33-4556-BB1E-600A48CE8D51}" dt="2024-12-13T18:28:30.614" v="2729" actId="478"/>
        <pc:sldMkLst>
          <pc:docMk/>
          <pc:sldMk cId="1620006502" sldId="274"/>
        </pc:sldMkLst>
      </pc:sldChg>
      <pc:sldChg chg="addSp modSp new mod">
        <pc:chgData name="Corrado Locati" userId="e0cfe5414333f21b" providerId="LiveId" clId="{181F6ABD-5C33-4556-BB1E-600A48CE8D51}" dt="2024-12-13T16:58:22.177" v="697" actId="20577"/>
        <pc:sldMkLst>
          <pc:docMk/>
          <pc:sldMk cId="4130165364" sldId="275"/>
        </pc:sldMkLst>
      </pc:sldChg>
      <pc:sldChg chg="addSp modSp add mod">
        <pc:chgData name="Corrado Locati" userId="e0cfe5414333f21b" providerId="LiveId" clId="{181F6ABD-5C33-4556-BB1E-600A48CE8D51}" dt="2024-12-13T17:04:17.549" v="859" actId="1076"/>
        <pc:sldMkLst>
          <pc:docMk/>
          <pc:sldMk cId="377560786" sldId="276"/>
        </pc:sldMkLst>
      </pc:sldChg>
      <pc:sldChg chg="addSp modSp add mod">
        <pc:chgData name="Corrado Locati" userId="e0cfe5414333f21b" providerId="LiveId" clId="{181F6ABD-5C33-4556-BB1E-600A48CE8D51}" dt="2024-12-13T18:29:34.678" v="2741" actId="15"/>
        <pc:sldMkLst>
          <pc:docMk/>
          <pc:sldMk cId="89602663" sldId="277"/>
        </pc:sldMkLst>
      </pc:sldChg>
      <pc:sldChg chg="add del">
        <pc:chgData name="Corrado Locati" userId="e0cfe5414333f21b" providerId="LiveId" clId="{181F6ABD-5C33-4556-BB1E-600A48CE8D51}" dt="2024-12-13T17:06:00.169" v="900" actId="47"/>
        <pc:sldMkLst>
          <pc:docMk/>
          <pc:sldMk cId="637329813" sldId="278"/>
        </pc:sldMkLst>
      </pc:sldChg>
      <pc:sldChg chg="addSp modSp add mod">
        <pc:chgData name="Corrado Locati" userId="e0cfe5414333f21b" providerId="LiveId" clId="{181F6ABD-5C33-4556-BB1E-600A48CE8D51}" dt="2024-12-13T18:31:01.540" v="2756" actId="20577"/>
        <pc:sldMkLst>
          <pc:docMk/>
          <pc:sldMk cId="3366099156" sldId="278"/>
        </pc:sldMkLst>
      </pc:sldChg>
      <pc:sldChg chg="addSp delSp modSp add mod modClrScheme chgLayout modNotesTx">
        <pc:chgData name="Corrado Locati" userId="e0cfe5414333f21b" providerId="LiveId" clId="{181F6ABD-5C33-4556-BB1E-600A48CE8D51}" dt="2024-12-13T19:47:17.390" v="2903" actId="6549"/>
        <pc:sldMkLst>
          <pc:docMk/>
          <pc:sldMk cId="1576154492" sldId="279"/>
        </pc:sldMkLst>
      </pc:sldChg>
      <pc:sldChg chg="delSp modSp add mod chgLayout">
        <pc:chgData name="Corrado Locati" userId="e0cfe5414333f21b" providerId="LiveId" clId="{181F6ABD-5C33-4556-BB1E-600A48CE8D51}" dt="2024-12-13T17:30:40.652" v="1604" actId="20577"/>
        <pc:sldMkLst>
          <pc:docMk/>
          <pc:sldMk cId="3832375345" sldId="280"/>
        </pc:sldMkLst>
      </pc:sldChg>
      <pc:sldChg chg="delSp modSp add mod modClrScheme chgLayout">
        <pc:chgData name="Corrado Locati" userId="e0cfe5414333f21b" providerId="LiveId" clId="{181F6ABD-5C33-4556-BB1E-600A48CE8D51}" dt="2024-12-13T18:40:28.379" v="2863" actId="1076"/>
        <pc:sldMkLst>
          <pc:docMk/>
          <pc:sldMk cId="4007319292" sldId="281"/>
        </pc:sldMkLst>
      </pc:sldChg>
      <pc:sldChg chg="add">
        <pc:chgData name="Corrado Locati" userId="e0cfe5414333f21b" providerId="LiveId" clId="{181F6ABD-5C33-4556-BB1E-600A48CE8D51}" dt="2024-12-13T18:32:36.120" v="2799"/>
        <pc:sldMkLst>
          <pc:docMk/>
          <pc:sldMk cId="1175288407" sldId="282"/>
        </pc:sldMkLst>
      </pc:sldChg>
      <pc:sldChg chg="add modNotesTx">
        <pc:chgData name="Corrado Locati" userId="e0cfe5414333f21b" providerId="LiveId" clId="{181F6ABD-5C33-4556-BB1E-600A48CE8D51}" dt="2024-12-13T19:29:32.272" v="2876" actId="6549"/>
        <pc:sldMkLst>
          <pc:docMk/>
          <pc:sldMk cId="250484456" sldId="2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209221-51A2-47BC-9C0D-2A2ACAF7620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C1BB7F-53C4-41F5-8D5F-8F49187187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131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C1BB7F-53C4-41F5-8D5F-8F491871874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724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C1BB7F-53C4-41F5-8D5F-8F491871874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35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CDC27-90F9-EE0A-71CD-CDD6EE8A2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24879D-BA4E-0196-3CF9-6941DEF31C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E3502F-4363-F30D-3438-A8DD64B73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/>
              <a:t>In the reviews, the most popular word is "game", followed by "great", "fun", "one", "play", all positive or natural words.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/>
              <a:t>Similarly, in the summaries, the most popular word is "star", followed by "five", "game", "great", "fun", still positive or natural words.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0B6D3-FDBB-F19E-EACF-0D6739A3D1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C1BB7F-53C4-41F5-8D5F-8F491871874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78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polarity and sentiment histograms confirm that both reviews and summaries have strong positive scores.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the reviews, the predominancy of positive words is strong.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the summaries, there is a high number of neutral words, but still lower than the positive 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C1BB7F-53C4-41F5-8D5F-8F491871874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084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C1BB7F-53C4-41F5-8D5F-8F491871874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253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85544-819B-F566-49C7-F1B8300DB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AA94B-1CD5-861C-F3DE-B34EE7E460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6F767B-E4A8-C2D8-572B-8958C53CD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The remuneration and spending score have a quite strong positive correlation with the loyalty points (e.g., the higher the remuneration, the higher the amount of loyalty points collected), and a weak negative correlation with the age. Here, it looks that the age is not an important factor.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D9B76-1E3B-FEA7-CF8B-1793867C5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C1BB7F-53C4-41F5-8D5F-8F491871874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723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93F08-2EED-C6E1-3AB6-7F95B218A6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638580-67A6-A46B-96AE-44E0C504E9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6049E-CAB7-DC1D-017C-D1C319B6B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5E23-B852-4E28-A13B-54C6C982B387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2DC52-B357-F4F5-A7E3-B27DBA58D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92C6E-011B-712F-9FB5-42AB3458F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FEA7A-C1B2-472F-B5DB-449E2D027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27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DB005-80AD-CCA5-5C99-2D055F1D0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77709-BB0E-911B-5CF3-CDFFE8A97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8C4D1-2AFB-471E-8BA2-4A3A4EAE1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5E23-B852-4E28-A13B-54C6C982B387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BBF26-3753-57E0-4DDE-C53087811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537D0-3A6D-8A11-1248-6B9AF4096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FEA7A-C1B2-472F-B5DB-449E2D027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099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3C547-55E3-E24D-AF6C-603B18F2A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BF724-2BC2-3D83-287C-91375BEBA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ABDEE-42D9-AE1A-B09A-529489E82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5E23-B852-4E28-A13B-54C6C982B387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CF3B0-DCEC-71AD-3A71-A71DC4C4C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789BD-E82E-F859-AA77-6FFB8D1A0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FEA7A-C1B2-472F-B5DB-449E2D027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820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19AB3-E9BD-0BDC-4151-4AD6C3562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73354-616A-C02C-CD8D-F02F73D8CE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CF99D5-61D5-8948-77BA-526A7D6BE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E6FC0A-1D95-CB9A-9EFC-BA32641FA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5E23-B852-4E28-A13B-54C6C982B387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B62939-E4AB-B486-80DD-BD6C7D996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D510D-A978-7D7F-FD77-2EE98A1D0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FEA7A-C1B2-472F-B5DB-449E2D027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104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C7D58-51AD-936F-8F7D-2036A2E36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0DC04B-2993-C91A-E2F8-A17AD1AF8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88602-848D-A841-6B2A-747E0EAC5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D06532-3B7F-F91F-B4D5-74D4787691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AAE5E6-EDC8-A12A-194B-DE3679F218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A8C8E5-5F94-5DEA-B0AD-CEBEDD5B1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5E23-B852-4E28-A13B-54C6C982B387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C6B98A-769D-2C13-5F2F-703F09D6A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260474-1869-D0E8-F200-5E1F12C34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FEA7A-C1B2-472F-B5DB-449E2D027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576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D1F54-4417-FEE2-7731-0B014E71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4923DA-2CB7-53BC-5C41-C8337FDAC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5E23-B852-4E28-A13B-54C6C982B387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AE1AD9-A5FB-24DF-D45B-02AC0F96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BC7D06-1CDE-7722-4E9F-4192948C0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FEA7A-C1B2-472F-B5DB-449E2D027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130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F87BF2-0BB8-93FE-43EB-0A0338953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5E23-B852-4E28-A13B-54C6C982B387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673430-FC9A-7B21-C515-41E938EE2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4F51E-D2FC-4BB6-5E2A-ADFE2AA3D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FEA7A-C1B2-472F-B5DB-449E2D027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242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94C97-9CF7-4766-439F-182ACBA0E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EDD49D-020D-1181-F966-6D09C9ACA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D11A7E-FE2C-C238-7740-9C69B268B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634E42-4638-047E-4F53-E754DA663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5E23-B852-4E28-A13B-54C6C982B387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C5C685-E9AD-CE35-53DC-4CFA12510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08355-A6D2-2DDF-42E8-A62860EF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FEA7A-C1B2-472F-B5DB-449E2D027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07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0607E-3A38-328C-C226-FA03626E9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90D83A-8AD0-6D5C-C11E-0F15C4B482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9D7DC8-F25A-E4C2-A727-FAF89929F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BD6C4-FF01-B0F4-774F-00EFD303A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5E23-B852-4E28-A13B-54C6C982B387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362187-C7AB-DF36-3CB2-8AFF65D14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F6E6D2-04B7-4D7F-B852-1D4AC5CE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FEA7A-C1B2-472F-B5DB-449E2D027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317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9E823-73E1-D3CF-23BF-91F8135C9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3B3230-BAB6-4FFF-A6C5-E7B07C0B0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E3802-3526-3261-4506-8EA47BEAA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5E23-B852-4E28-A13B-54C6C982B387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7D033-050D-60A0-9FAE-FFFB526F5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76C50-320D-94D1-D89D-6BF3A0032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FEA7A-C1B2-472F-B5DB-449E2D027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83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A2BB3F-24C1-8039-2497-259C0C1BB0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9B1160-0C28-63BA-6E7B-FD033C823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3ACA0-EB6E-8AD7-2B8D-9624F923A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5E23-B852-4E28-A13B-54C6C982B387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E53D0-3873-B034-F944-F8453B596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05213-E500-4256-E133-CE377AA30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FEA7A-C1B2-472F-B5DB-449E2D027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166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D45A63-D305-E2BD-D257-985502F4F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50293-3C8C-BE22-1D52-67E8A5E0B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1E942-F3CF-3133-FF1E-2BBA8648EB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B95E23-B852-4E28-A13B-54C6C982B387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BA0CA-786B-B3A5-4A20-C640BF059B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EE9A4-1630-840A-0634-94694E931A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1FEA7A-C1B2-472F-B5DB-449E2D027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34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53E0C-34C5-64C7-A766-EE5E915EE8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Turtle Games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45EE47-3D5A-7788-D332-384C375F9B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Insights on data analysis</a:t>
            </a:r>
          </a:p>
        </p:txBody>
      </p:sp>
    </p:spTree>
    <p:extLst>
      <p:ext uri="{BB962C8B-B14F-4D97-AF65-F5344CB8AC3E}">
        <p14:creationId xmlns:p14="http://schemas.microsoft.com/office/powerpoint/2010/main" val="4047827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105020-07B3-FBC2-3566-7187E1563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0FA1F7-56F3-277F-3B86-16970D8FC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Turtle Games needs to </a:t>
            </a:r>
            <a:r>
              <a:rPr lang="en-US" b="0" i="0" dirty="0">
                <a:effectLst/>
                <a:latin typeface="system-ui"/>
              </a:rPr>
              <a:t>improve overall sales performance</a:t>
            </a:r>
          </a:p>
          <a:p>
            <a:pPr lvl="1"/>
            <a:r>
              <a:rPr lang="en-US" b="0" i="0" dirty="0">
                <a:effectLst/>
                <a:latin typeface="system-ui"/>
              </a:rPr>
              <a:t> by utilizing customer trends</a:t>
            </a:r>
          </a:p>
          <a:p>
            <a:r>
              <a:rPr lang="en-US" dirty="0">
                <a:latin typeface="system-ui"/>
              </a:rPr>
              <a:t>Understanding</a:t>
            </a:r>
          </a:p>
          <a:p>
            <a:pPr lvl="1"/>
            <a:r>
              <a:rPr lang="en-US" b="0" i="0" dirty="0">
                <a:effectLst/>
                <a:latin typeface="system-ui"/>
              </a:rPr>
              <a:t>How customers accumulate loyalty points </a:t>
            </a:r>
          </a:p>
          <a:p>
            <a:pPr lvl="1"/>
            <a:r>
              <a:rPr lang="en-US" b="0" i="0" dirty="0">
                <a:effectLst/>
                <a:latin typeface="system-ui"/>
              </a:rPr>
              <a:t>Which are the most important variables for collecting loyalty points</a:t>
            </a:r>
          </a:p>
          <a:p>
            <a:pPr lvl="1"/>
            <a:r>
              <a:rPr lang="en-US" b="0" i="0" dirty="0">
                <a:effectLst/>
                <a:latin typeface="system-ui"/>
              </a:rPr>
              <a:t>How customers can be clustered according to variables</a:t>
            </a:r>
          </a:p>
          <a:p>
            <a:pPr lvl="1"/>
            <a:r>
              <a:rPr lang="en-US" b="0" i="0" dirty="0">
                <a:effectLst/>
                <a:latin typeface="system-ui"/>
              </a:rPr>
              <a:t>Use of social data in marketing campaigns </a:t>
            </a:r>
          </a:p>
          <a:p>
            <a:pPr lvl="1"/>
            <a:r>
              <a:rPr lang="en-US" b="0" i="0" dirty="0">
                <a:effectLst/>
                <a:latin typeface="system-ui"/>
              </a:rPr>
              <a:t>Statistical analysis and modelling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258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5513F-A980-29E0-9F9E-40AB7646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9735F-696C-D43B-548D-668BC55E6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include gender, age, remuneration (in k£), spending score (0-100), loyalty points, education, language, platform, product, review and summary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47D2B0-7633-2405-826D-CD268C027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151" y="3211359"/>
            <a:ext cx="9905698" cy="279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165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85567-876E-EAEE-9707-E5E505266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E9ED6D-FD53-E231-3E19-7BB6B7A50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Loyalty points vs. variables</a:t>
            </a:r>
          </a:p>
        </p:txBody>
      </p:sp>
    </p:spTree>
    <p:extLst>
      <p:ext uri="{BB962C8B-B14F-4D97-AF65-F5344CB8AC3E}">
        <p14:creationId xmlns:p14="http://schemas.microsoft.com/office/powerpoint/2010/main" val="1620006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F8757B-EB20-81F7-0576-DA9DC2208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Spending score vs. Loyalty points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412A1C-7CDC-6D43-D587-19402C484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dirty="0">
                <a:effectLst/>
                <a:latin typeface="+mj-lt"/>
              </a:rPr>
              <a:t>The higher the spending score, the higher the loyalty points. </a:t>
            </a:r>
          </a:p>
          <a:p>
            <a:pPr algn="l"/>
            <a:r>
              <a:rPr lang="en-US" b="0" i="0" dirty="0">
                <a:effectLst/>
                <a:latin typeface="+mj-lt"/>
              </a:rPr>
              <a:t>The spread of the loyalty points increases with increasing the spending score.</a:t>
            </a:r>
          </a:p>
          <a:p>
            <a:pPr algn="l"/>
            <a:r>
              <a:rPr lang="en-US" b="0" i="0" dirty="0">
                <a:effectLst/>
                <a:latin typeface="+mj-lt"/>
              </a:rPr>
              <a:t>A weak linear relationship between the two quantities is present</a:t>
            </a:r>
          </a:p>
        </p:txBody>
      </p:sp>
      <p:pic>
        <p:nvPicPr>
          <p:cNvPr id="5" name="Picture 3" descr="A graph of a graph with blue dots&#10;&#10;Description automatically generated with medium confidence">
            <a:extLst>
              <a:ext uri="{FF2B5EF4-FFF2-40B4-BE49-F238E27FC236}">
                <a16:creationId xmlns:a16="http://schemas.microsoft.com/office/drawing/2014/main" id="{735F2E98-57E0-D261-241D-2C4363A41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4815" y="3785191"/>
            <a:ext cx="3122369" cy="3072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0982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20226-198B-C2B3-40C3-A10CBCE95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FA9B07-E2AA-E3B5-8CCA-861689415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effectLst/>
              </a:rPr>
              <a:t>Renumeration vs. loyalty points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9B398-A805-CC63-47E1-1034B6C38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latin typeface="+mj-lt"/>
              </a:rPr>
              <a:t>T</a:t>
            </a:r>
            <a:r>
              <a:rPr lang="en-US" b="0" i="0" dirty="0">
                <a:effectLst/>
                <a:latin typeface="+mj-lt"/>
              </a:rPr>
              <a:t>he higher the remuneration, the higher the loyalty points. </a:t>
            </a:r>
          </a:p>
          <a:p>
            <a:pPr algn="l"/>
            <a:r>
              <a:rPr lang="en-US" b="0" i="0" dirty="0">
                <a:effectLst/>
                <a:latin typeface="+mj-lt"/>
              </a:rPr>
              <a:t>The spread of the loyalty points increases with increasing the remuneration.</a:t>
            </a:r>
            <a:endParaRPr lang="en-US" dirty="0">
              <a:latin typeface="+mj-lt"/>
            </a:endParaRPr>
          </a:p>
          <a:p>
            <a:pPr algn="l"/>
            <a:r>
              <a:rPr lang="en-US" b="0" i="0" dirty="0">
                <a:effectLst/>
                <a:latin typeface="+mj-lt"/>
              </a:rPr>
              <a:t>A weak linear relationship between the two quantities is present</a:t>
            </a:r>
          </a:p>
        </p:txBody>
      </p:sp>
      <p:pic>
        <p:nvPicPr>
          <p:cNvPr id="2" name="Picture 2" descr="A graph of a chart with green dots&#10;&#10;Description automatically generated with medium confidence">
            <a:extLst>
              <a:ext uri="{FF2B5EF4-FFF2-40B4-BE49-F238E27FC236}">
                <a16:creationId xmlns:a16="http://schemas.microsoft.com/office/drawing/2014/main" id="{B5411DA0-5DA7-2773-1207-1CB0895BA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440" y="3658230"/>
            <a:ext cx="3141120" cy="3074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560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F1157-FC64-9AE3-3914-FCA9EB94E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F5556A1-36C8-22B5-644C-C068BAC5B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 vs. loyalty points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866646-6107-087B-BC3C-99FDAE998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dirty="0">
                <a:effectLst/>
                <a:latin typeface="+mj-lt"/>
              </a:rPr>
              <a:t>The data are evenly spread across the plot. </a:t>
            </a:r>
          </a:p>
          <a:p>
            <a:pPr lvl="1"/>
            <a:r>
              <a:rPr lang="en-US" b="0" i="0" dirty="0">
                <a:effectLst/>
                <a:latin typeface="+mj-lt"/>
              </a:rPr>
              <a:t>The age is not an important variable. </a:t>
            </a:r>
          </a:p>
        </p:txBody>
      </p:sp>
      <p:pic>
        <p:nvPicPr>
          <p:cNvPr id="2" name="Picture 1" descr="A graph of red dots&#10;&#10;Description automatically generated">
            <a:extLst>
              <a:ext uri="{FF2B5EF4-FFF2-40B4-BE49-F238E27FC236}">
                <a16:creationId xmlns:a16="http://schemas.microsoft.com/office/drawing/2014/main" id="{7E715647-FBDB-F257-6CE3-A78B9BEAA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6000" y="3079009"/>
            <a:ext cx="3600000" cy="3523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02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33900-57D0-1C90-CBDB-77F937E57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624332-7A40-C212-4558-44E77AB09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variables are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037B0-EA17-53E9-6EF4-BC51114E3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highest number of loyalty point is reached by people with high spending score and high remuneration.</a:t>
            </a:r>
          </a:p>
          <a:p>
            <a:r>
              <a:rPr lang="en-US" dirty="0"/>
              <a:t>Spending score</a:t>
            </a:r>
          </a:p>
          <a:p>
            <a:pPr lvl="1"/>
            <a:r>
              <a:rPr lang="en-GB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The highest number of loyalty points is reached with a spending score higher than 71.5</a:t>
            </a:r>
          </a:p>
          <a:p>
            <a:pPr lvl="1"/>
            <a:r>
              <a:rPr lang="en-GB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The largest group of customers (498) reaches an average of 1500 loyalty points with a spending score of 61.5. </a:t>
            </a:r>
          </a:p>
          <a:p>
            <a:r>
              <a:rPr lang="en-GB" dirty="0">
                <a:latin typeface="Calibri" panose="020F0502020204030204" pitchFamily="34" charset="0"/>
              </a:rPr>
              <a:t>Remuneration</a:t>
            </a:r>
          </a:p>
          <a:p>
            <a:pPr lvl="1"/>
            <a:r>
              <a:rPr lang="en-GB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The highest number of loyalty points is reached with a remuneration higher than 107830 £. </a:t>
            </a:r>
          </a:p>
          <a:p>
            <a:pPr lvl="1"/>
            <a:r>
              <a:rPr lang="en-GB" sz="1800" dirty="0">
                <a:latin typeface="Calibri" panose="020F0502020204030204" pitchFamily="34" charset="0"/>
                <a:ea typeface="Aptos" panose="020B0004020202020204" pitchFamily="34" charset="0"/>
              </a:rPr>
              <a:t>T</a:t>
            </a:r>
            <a:r>
              <a:rPr lang="en-GB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he largest group of customers (498) reaches an average of 1500 loyalty points with a remuneration higher 33620 £. </a:t>
            </a:r>
            <a:endParaRPr lang="en-US" dirty="0"/>
          </a:p>
          <a:p>
            <a:r>
              <a:rPr lang="en-US" dirty="0"/>
              <a:t>Age is not an important value</a:t>
            </a:r>
          </a:p>
        </p:txBody>
      </p:sp>
    </p:spTree>
    <p:extLst>
      <p:ext uri="{BB962C8B-B14F-4D97-AF65-F5344CB8AC3E}">
        <p14:creationId xmlns:p14="http://schemas.microsoft.com/office/powerpoint/2010/main" val="418241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0E058-A36A-5998-CB0C-D97A57172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24D157-BB03-CF9A-9058-948A0E104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market segments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AA228-0CE0-E907-1839-E190380B5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Customers are grouped </a:t>
            </a:r>
            <a:r>
              <a:rPr lang="en-US" dirty="0" err="1"/>
              <a:t>w.r.t.</a:t>
            </a:r>
            <a:r>
              <a:rPr lang="en-US" dirty="0"/>
              <a:t> spending score and remuneration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3FF05D-0E11-B8DD-63D1-21DFD0D2B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074" y="2339887"/>
            <a:ext cx="6277851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099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335E1F-F200-A0B7-861E-D4B389C20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market segments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F6D2EE-9A4B-F596-7F0F-A6B38F982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33211" cy="4351338"/>
          </a:xfrm>
        </p:spPr>
        <p:txBody>
          <a:bodyPr>
            <a:normAutofit fontScale="92500" lnSpcReduction="20000"/>
          </a:bodyPr>
          <a:lstStyle/>
          <a:p>
            <a:r>
              <a:rPr lang="en-US" b="0" i="0" dirty="0">
                <a:solidFill>
                  <a:srgbClr val="4B6FAF"/>
                </a:solidFill>
                <a:effectLst/>
                <a:latin typeface="+mj-lt"/>
              </a:rPr>
              <a:t>Customers with </a:t>
            </a:r>
            <a:r>
              <a:rPr lang="en-US" dirty="0">
                <a:solidFill>
                  <a:srgbClr val="4B6FAF"/>
                </a:solidFill>
                <a:latin typeface="+mj-lt"/>
              </a:rPr>
              <a:t>spending score between 40 and 60</a:t>
            </a:r>
            <a:r>
              <a:rPr lang="en-US" b="0" i="0" dirty="0">
                <a:solidFill>
                  <a:srgbClr val="4B6FAF"/>
                </a:solidFill>
                <a:effectLst/>
                <a:latin typeface="+mj-lt"/>
              </a:rPr>
              <a:t> and </a:t>
            </a:r>
            <a:r>
              <a:rPr lang="en-US" dirty="0">
                <a:solidFill>
                  <a:srgbClr val="4B6FAF"/>
                </a:solidFill>
                <a:latin typeface="+mj-lt"/>
              </a:rPr>
              <a:t>remuneration</a:t>
            </a:r>
            <a:r>
              <a:rPr lang="en-US" b="0" i="0" dirty="0">
                <a:solidFill>
                  <a:srgbClr val="4B6FAF"/>
                </a:solidFill>
                <a:effectLst/>
                <a:latin typeface="+mj-lt"/>
              </a:rPr>
              <a:t> 30 - 60 k£ form the biggest cluster.</a:t>
            </a:r>
          </a:p>
          <a:p>
            <a:pPr algn="l"/>
            <a:r>
              <a:rPr lang="en-US" b="0" i="0" dirty="0">
                <a:solidFill>
                  <a:schemeClr val="accent6">
                    <a:lumMod val="75000"/>
                  </a:schemeClr>
                </a:solidFill>
                <a:effectLst/>
                <a:latin typeface="+mj-lt"/>
              </a:rPr>
              <a:t>Customers with high spending scores and high remuneration.</a:t>
            </a:r>
          </a:p>
          <a:p>
            <a:pPr algn="l"/>
            <a:r>
              <a:rPr lang="en-US" b="0" i="0" dirty="0">
                <a:solidFill>
                  <a:srgbClr val="B42D2E"/>
                </a:solidFill>
                <a:effectLst/>
                <a:latin typeface="+mj-lt"/>
              </a:rPr>
              <a:t>Customers with low remuneration but high spending score.</a:t>
            </a:r>
          </a:p>
          <a:p>
            <a:r>
              <a:rPr lang="en-US" dirty="0">
                <a:solidFill>
                  <a:srgbClr val="9871C1"/>
                </a:solidFill>
                <a:latin typeface="+mj-lt"/>
              </a:rPr>
              <a:t>Customers with low spending score and</a:t>
            </a:r>
            <a:r>
              <a:rPr lang="en-US" b="0" i="0" dirty="0">
                <a:solidFill>
                  <a:srgbClr val="9871C1"/>
                </a:solidFill>
                <a:effectLst/>
                <a:latin typeface="+mj-lt"/>
              </a:rPr>
              <a:t> low remuneration</a:t>
            </a:r>
          </a:p>
          <a:p>
            <a:r>
              <a:rPr lang="en-US" b="0" i="0" dirty="0">
                <a:solidFill>
                  <a:srgbClr val="DF832E"/>
                </a:solidFill>
                <a:effectLst/>
                <a:latin typeface="+mj-lt"/>
              </a:rPr>
              <a:t>Customers with low spending score and high remuneration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7120FD-F95B-D4CE-1539-61E00D047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149" y="1618942"/>
            <a:ext cx="6277851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321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D8D7A8-1AD6-0D74-68B3-07ADC8BFD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away messages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6BDF15-AC14-FCB4-9808-D8F249E79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+mj-lt"/>
              </a:rPr>
              <a:t>Marketing campaigns should address customer with average spending scores and remuneration. </a:t>
            </a:r>
          </a:p>
          <a:p>
            <a:pPr algn="l"/>
            <a:r>
              <a:rPr lang="en-US" dirty="0">
                <a:latin typeface="+mj-lt"/>
              </a:rPr>
              <a:t>A</a:t>
            </a:r>
            <a:r>
              <a:rPr lang="en-US" b="0" i="0" dirty="0">
                <a:effectLst/>
                <a:latin typeface="+mj-lt"/>
              </a:rPr>
              <a:t>s well doing promotions towards customers with low remuneration but high spending score.</a:t>
            </a:r>
          </a:p>
          <a:p>
            <a:r>
              <a:rPr lang="en-US" b="0" i="0" dirty="0">
                <a:effectLst/>
                <a:latin typeface="+mj-lt"/>
              </a:rPr>
              <a:t>Low-spending score customers, with low and high remuneration should be the target of specific promotions, to push their spending score.</a:t>
            </a:r>
          </a:p>
        </p:txBody>
      </p:sp>
    </p:spTree>
    <p:extLst>
      <p:ext uri="{BB962C8B-B14F-4D97-AF65-F5344CB8AC3E}">
        <p14:creationId xmlns:p14="http://schemas.microsoft.com/office/powerpoint/2010/main" val="926177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C74B0-EECB-016D-F4C3-063C19A5F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9DDE55-58C2-14DB-44A8-AB208BAA4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Customers Sentiment</a:t>
            </a:r>
          </a:p>
        </p:txBody>
      </p:sp>
    </p:spTree>
    <p:extLst>
      <p:ext uri="{BB962C8B-B14F-4D97-AF65-F5344CB8AC3E}">
        <p14:creationId xmlns:p14="http://schemas.microsoft.com/office/powerpoint/2010/main" val="1576154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E8565-6C57-D57A-FBFD-F23F6F5C8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4A920D-F83B-8CEB-FA43-7F130FD4F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Customers Sentiment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41F5C5-F32C-BDF6-271E-2E2874BE4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220200" cy="619192"/>
          </a:xfrm>
        </p:spPr>
        <p:txBody>
          <a:bodyPr/>
          <a:lstStyle/>
          <a:p>
            <a:pPr algn="l"/>
            <a:r>
              <a:rPr lang="en-US" dirty="0">
                <a:latin typeface="+mj-lt"/>
              </a:rPr>
              <a:t>P</a:t>
            </a:r>
            <a:r>
              <a:rPr lang="en-US" b="0" i="0" dirty="0">
                <a:effectLst/>
                <a:latin typeface="+mj-lt"/>
              </a:rPr>
              <a:t>roducts reviews and summary were </a:t>
            </a:r>
            <a:r>
              <a:rPr lang="en-US" b="0" i="0" dirty="0" err="1">
                <a:effectLst/>
                <a:latin typeface="+mj-lt"/>
              </a:rPr>
              <a:t>analysed</a:t>
            </a:r>
            <a:r>
              <a:rPr lang="en-US" dirty="0">
                <a:latin typeface="+mj-lt"/>
              </a:rPr>
              <a:t>.</a:t>
            </a:r>
          </a:p>
        </p:txBody>
      </p:sp>
      <p:pic>
        <p:nvPicPr>
          <p:cNvPr id="2" name="Picture 1" descr="A close up of words&#10;&#10;Description automatically generated">
            <a:extLst>
              <a:ext uri="{FF2B5EF4-FFF2-40B4-BE49-F238E27FC236}">
                <a16:creationId xmlns:a16="http://schemas.microsoft.com/office/drawing/2014/main" id="{B9E27168-E053-1217-2AE6-C639D4026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694" y="2773895"/>
            <a:ext cx="4878519" cy="2835761"/>
          </a:xfrm>
          <a:prstGeom prst="rect">
            <a:avLst/>
          </a:prstGeom>
        </p:spPr>
      </p:pic>
      <p:pic>
        <p:nvPicPr>
          <p:cNvPr id="4" name="Picture 3" descr="A close up of words&#10;&#10;Description automatically generated">
            <a:extLst>
              <a:ext uri="{FF2B5EF4-FFF2-40B4-BE49-F238E27FC236}">
                <a16:creationId xmlns:a16="http://schemas.microsoft.com/office/drawing/2014/main" id="{70FBE8CD-47E3-5B4D-198A-926BC8D94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3352" y="2777338"/>
            <a:ext cx="4878519" cy="28323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8A7DA6-7F5C-332E-F7D1-BC6ECFB524EF}"/>
              </a:ext>
            </a:extLst>
          </p:cNvPr>
          <p:cNvSpPr txBox="1"/>
          <p:nvPr/>
        </p:nvSpPr>
        <p:spPr>
          <a:xfrm>
            <a:off x="2493309" y="2250675"/>
            <a:ext cx="12852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Review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4836C1-63DA-C4C5-3F3F-D03E05A8B609}"/>
              </a:ext>
            </a:extLst>
          </p:cNvPr>
          <p:cNvSpPr txBox="1"/>
          <p:nvPr/>
        </p:nvSpPr>
        <p:spPr>
          <a:xfrm>
            <a:off x="7962958" y="2250675"/>
            <a:ext cx="16793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175288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81A68-0911-0953-ED80-31AAA47A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CD569A-4698-D22D-585F-B0C6D2763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Customers Sentiment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C9C26C-945D-658F-A48C-D4A9F9F98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latin typeface="+mj-lt"/>
              </a:rPr>
              <a:t>The most common words are positive. </a:t>
            </a:r>
          </a:p>
          <a:p>
            <a:pPr algn="l"/>
            <a:r>
              <a:rPr lang="en-US" dirty="0">
                <a:latin typeface="+mj-lt"/>
              </a:rPr>
              <a:t>Words like game, great, fun, five, stars highlight the goodness of Turtle game work. </a:t>
            </a:r>
          </a:p>
          <a:p>
            <a:r>
              <a:rPr lang="en-US" dirty="0">
                <a:latin typeface="+mj-lt"/>
              </a:rPr>
              <a:t>However, a deeper analysis is needed</a:t>
            </a:r>
          </a:p>
          <a:p>
            <a:pPr lvl="1"/>
            <a:r>
              <a:rPr lang="en-US" dirty="0">
                <a:latin typeface="+mj-lt"/>
              </a:rPr>
              <a:t>of the word polarity (how many positive or negative word)</a:t>
            </a:r>
          </a:p>
          <a:p>
            <a:pPr lvl="1"/>
            <a:r>
              <a:rPr lang="en-US" dirty="0">
                <a:latin typeface="+mj-lt"/>
              </a:rPr>
              <a:t>of the word sentiment (positive, negative, or neutral tone?) </a:t>
            </a:r>
          </a:p>
        </p:txBody>
      </p:sp>
    </p:spTree>
    <p:extLst>
      <p:ext uri="{BB962C8B-B14F-4D97-AF65-F5344CB8AC3E}">
        <p14:creationId xmlns:p14="http://schemas.microsoft.com/office/powerpoint/2010/main" val="3832375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879CC-C2AD-3E85-3401-33ECCC5E7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E4F585-B735-B884-B30D-A73E65D646F9}"/>
              </a:ext>
            </a:extLst>
          </p:cNvPr>
          <p:cNvSpPr txBox="1"/>
          <p:nvPr/>
        </p:nvSpPr>
        <p:spPr>
          <a:xfrm>
            <a:off x="3398084" y="1428062"/>
            <a:ext cx="12852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Review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80B69B-4E98-3DAE-24E8-DB8953B78E36}"/>
              </a:ext>
            </a:extLst>
          </p:cNvPr>
          <p:cNvSpPr txBox="1"/>
          <p:nvPr/>
        </p:nvSpPr>
        <p:spPr>
          <a:xfrm>
            <a:off x="7627623" y="1307186"/>
            <a:ext cx="16793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Summary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5E7CC9C-E884-3A47-FCF7-DDB195A98652}"/>
              </a:ext>
            </a:extLst>
          </p:cNvPr>
          <p:cNvGrpSpPr/>
          <p:nvPr/>
        </p:nvGrpSpPr>
        <p:grpSpPr>
          <a:xfrm>
            <a:off x="2165273" y="1970123"/>
            <a:ext cx="3766152" cy="2220967"/>
            <a:chOff x="2165273" y="1970123"/>
            <a:chExt cx="3766152" cy="222096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B959EAC-C1D9-5360-BB02-06D67262DD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65273" y="1970123"/>
              <a:ext cx="3766152" cy="2220967"/>
            </a:xfrm>
            <a:prstGeom prst="rect">
              <a:avLst/>
            </a:prstGeom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D265716-28F3-3BC0-D735-ABECD0D7BBD2}"/>
                </a:ext>
              </a:extLst>
            </p:cNvPr>
            <p:cNvCxnSpPr/>
            <p:nvPr/>
          </p:nvCxnSpPr>
          <p:spPr>
            <a:xfrm flipV="1">
              <a:off x="4143277" y="2080260"/>
              <a:ext cx="0" cy="19659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7C77F9C-9131-1ECF-93A5-B5141A51A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67451" y="2321704"/>
              <a:ext cx="1214370" cy="74153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11249D88-EFD5-E1A1-0386-B03BB0BE19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51870" y="2345518"/>
              <a:ext cx="1039138" cy="735088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D2C2BCB-44D8-B976-3B9A-FA68B68525D6}"/>
              </a:ext>
            </a:extLst>
          </p:cNvPr>
          <p:cNvGrpSpPr/>
          <p:nvPr/>
        </p:nvGrpSpPr>
        <p:grpSpPr>
          <a:xfrm>
            <a:off x="6512479" y="1924505"/>
            <a:ext cx="3818829" cy="2266585"/>
            <a:chOff x="2233863" y="4460900"/>
            <a:chExt cx="3818829" cy="226658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08CBB85-F754-CAD2-5D85-BF90411A35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33863" y="4460900"/>
              <a:ext cx="3818829" cy="2266585"/>
            </a:xfrm>
            <a:prstGeom prst="rect">
              <a:avLst/>
            </a:prstGeom>
          </p:spPr>
        </p:pic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70626F8-ADF1-ADD9-5676-DCFB3C3299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1857" y="4564380"/>
              <a:ext cx="0" cy="20040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2F33EBB-2B5A-9B66-5580-8B6A5B1E3D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21878" y="4831322"/>
              <a:ext cx="1336659" cy="81621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7BAD6F11-7DE5-7DD1-41D3-422623CF0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51870" y="4831322"/>
              <a:ext cx="1039138" cy="735088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951AF5D-7B87-A41D-3D2D-C13D50747E4A}"/>
              </a:ext>
            </a:extLst>
          </p:cNvPr>
          <p:cNvGrpSpPr/>
          <p:nvPr/>
        </p:nvGrpSpPr>
        <p:grpSpPr>
          <a:xfrm>
            <a:off x="6603245" y="4316348"/>
            <a:ext cx="3728063" cy="2411137"/>
            <a:chOff x="6603245" y="4316348"/>
            <a:chExt cx="3728063" cy="241113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A0E65F5-DC9E-8D3E-88B6-5D4A5391867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603245" y="4316348"/>
              <a:ext cx="3728063" cy="2411137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3A001A7-07B4-4EE1-9AC6-CAE3802FC0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60919" y="4564380"/>
              <a:ext cx="762002" cy="465305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58F0BB2E-92EE-8358-81CF-E27639718E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75320" y="5594192"/>
              <a:ext cx="632374" cy="447342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CD524F6A-9AD1-8081-AD0B-6B95EB353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82480" y="4486719"/>
              <a:ext cx="634034" cy="626302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A2A6905-B3A9-EF66-07C8-C5CF073943DE}"/>
              </a:ext>
            </a:extLst>
          </p:cNvPr>
          <p:cNvGrpSpPr/>
          <p:nvPr/>
        </p:nvGrpSpPr>
        <p:grpSpPr>
          <a:xfrm>
            <a:off x="2060877" y="4230372"/>
            <a:ext cx="3959702" cy="2583087"/>
            <a:chOff x="6487426" y="1877813"/>
            <a:chExt cx="3959702" cy="258308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C74C4B8-2E56-6694-5C5A-182BD54F27C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487426" y="1877813"/>
              <a:ext cx="3959702" cy="2583087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06FAF2B-04DC-EF96-8F28-B5A66937A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78239" y="2095500"/>
              <a:ext cx="762002" cy="465305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D86694A4-A2FF-019B-79E0-E557C5879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28545" y="3282530"/>
              <a:ext cx="632374" cy="447342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F0884A22-0221-9A28-2C98-500EBFCFEC0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710540" y="3379530"/>
              <a:ext cx="632374" cy="624662"/>
            </a:xfrm>
            <a:prstGeom prst="rect">
              <a:avLst/>
            </a:prstGeom>
          </p:spPr>
        </p:pic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1F7FEE6B-A60A-807C-C2DD-56702ED33877}"/>
              </a:ext>
            </a:extLst>
          </p:cNvPr>
          <p:cNvSpPr txBox="1"/>
          <p:nvPr/>
        </p:nvSpPr>
        <p:spPr>
          <a:xfrm>
            <a:off x="361877" y="2796187"/>
            <a:ext cx="13429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Polarity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97E131-3485-BB14-4DCF-1A0091058F9C}"/>
              </a:ext>
            </a:extLst>
          </p:cNvPr>
          <p:cNvSpPr txBox="1"/>
          <p:nvPr/>
        </p:nvSpPr>
        <p:spPr>
          <a:xfrm>
            <a:off x="141913" y="5260305"/>
            <a:ext cx="17828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Sentiment</a:t>
            </a:r>
          </a:p>
        </p:txBody>
      </p:sp>
    </p:spTree>
    <p:extLst>
      <p:ext uri="{BB962C8B-B14F-4D97-AF65-F5344CB8AC3E}">
        <p14:creationId xmlns:p14="http://schemas.microsoft.com/office/powerpoint/2010/main" val="995477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F9D672-4550-EBED-EB7D-2CF44A24F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Take away messages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8C288-BBEB-5114-6B4F-FC334CC09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Turtle Games could use this positive vibe for their marketing campaigns, by adopting positive words in their commercials. </a:t>
            </a:r>
          </a:p>
          <a:p>
            <a:r>
              <a:rPr lang="en-US" dirty="0"/>
              <a:t>A deeper study of the negative words and their frequency could help address and improve some issues.</a:t>
            </a:r>
          </a:p>
        </p:txBody>
      </p:sp>
    </p:spTree>
    <p:extLst>
      <p:ext uri="{BB962C8B-B14F-4D97-AF65-F5344CB8AC3E}">
        <p14:creationId xmlns:p14="http://schemas.microsoft.com/office/powerpoint/2010/main" val="94116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8034E-FF17-9BA2-ABE3-E44FB72FB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of variables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4550A93-0210-75BB-3E36-9F80088A0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kern="1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We are interested in the loyalty points variable, and how strong the other variables correlate with 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044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1BCA4-1DD6-D2F5-7723-D2D870994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FC76C-C71F-614F-01D9-6F5DEDDC1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of variables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005F6B-B892-1C24-5B6F-70EBEF1F5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652" y="1834618"/>
            <a:ext cx="8392696" cy="381053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3EE6DD7-D499-2C06-BB62-7F447A7D6B4E}"/>
              </a:ext>
            </a:extLst>
          </p:cNvPr>
          <p:cNvSpPr/>
          <p:nvPr/>
        </p:nvSpPr>
        <p:spPr>
          <a:xfrm>
            <a:off x="1990725" y="3952875"/>
            <a:ext cx="7458075" cy="647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84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9A44B-F9E6-9DA8-1FBA-791B46DE7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Loyalty points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3FFB31A-9AC9-DB4B-4903-BE035A012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linear relation subsists between the square root of loyalty points and the variables in consideration.</a:t>
            </a:r>
          </a:p>
          <a:p>
            <a:pPr lvl="1"/>
            <a:r>
              <a:rPr lang="en-US" dirty="0"/>
              <a:t>Higher spending score and remuneration  do not result in a similar increase of loyalty points. 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2E4DAA-8B9E-9202-058B-7F18D705E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680" y="3429000"/>
            <a:ext cx="3362640" cy="2809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362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A93094-0143-A4BD-CD3F-F3FD31513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DD8D38-0D42-5AA4-7B0E-118BBBD34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Loyalty points are driven mostly by customer remuneration and spending score</a:t>
            </a:r>
          </a:p>
          <a:p>
            <a:pPr lvl="1"/>
            <a:r>
              <a:rPr lang="en-US" dirty="0"/>
              <a:t>Not by age</a:t>
            </a:r>
          </a:p>
          <a:p>
            <a:r>
              <a:rPr lang="en-US" dirty="0"/>
              <a:t>Most of customers have an average remuneration and spending score</a:t>
            </a:r>
          </a:p>
          <a:p>
            <a:pPr lvl="1"/>
            <a:r>
              <a:rPr lang="en-US" dirty="0"/>
              <a:t>But Turtle games could benefit from targeted marketing campaigns towards other groups</a:t>
            </a:r>
          </a:p>
          <a:p>
            <a:r>
              <a:rPr lang="en-US" dirty="0"/>
              <a:t>Customers show positive sentiments towards Turtle game’s products</a:t>
            </a:r>
          </a:p>
          <a:p>
            <a:pPr lvl="1"/>
            <a:r>
              <a:rPr lang="en-US" dirty="0"/>
              <a:t>However, further studies are needed to address the causes of negative and neutral sentiment</a:t>
            </a:r>
          </a:p>
        </p:txBody>
      </p:sp>
    </p:spTree>
    <p:extLst>
      <p:ext uri="{BB962C8B-B14F-4D97-AF65-F5344CB8AC3E}">
        <p14:creationId xmlns:p14="http://schemas.microsoft.com/office/powerpoint/2010/main" val="31107434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4AE57-B359-7644-D771-1F8335382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0BF261-543C-779E-050E-9A05C0F88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5037" y="909637"/>
            <a:ext cx="7781925" cy="5038725"/>
          </a:xfrm>
        </p:spPr>
        <p:txBody>
          <a:bodyPr>
            <a:normAutofit/>
          </a:bodyPr>
          <a:lstStyle/>
          <a:p>
            <a:pPr algn="ctr"/>
            <a:r>
              <a:rPr lang="en-US" sz="11500" b="1" dirty="0"/>
              <a:t>Thanks for your kind attention</a:t>
            </a:r>
          </a:p>
        </p:txBody>
      </p:sp>
    </p:spTree>
    <p:extLst>
      <p:ext uri="{BB962C8B-B14F-4D97-AF65-F5344CB8AC3E}">
        <p14:creationId xmlns:p14="http://schemas.microsoft.com/office/powerpoint/2010/main" val="4007319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1234</TotalTime>
  <Words>845</Words>
  <Application>Microsoft Office PowerPoint</Application>
  <PresentationFormat>Widescreen</PresentationFormat>
  <Paragraphs>91</Paragraphs>
  <Slides>21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system-ui</vt:lpstr>
      <vt:lpstr>Office Theme</vt:lpstr>
      <vt:lpstr>Turtle Games</vt:lpstr>
      <vt:lpstr>Introduction</vt:lpstr>
      <vt:lpstr>The data</vt:lpstr>
      <vt:lpstr>Loyalty points vs. variables</vt:lpstr>
      <vt:lpstr>Spending score vs. Loyalty points</vt:lpstr>
      <vt:lpstr>Renumeration vs. loyalty points</vt:lpstr>
      <vt:lpstr>Age vs. loyalty points</vt:lpstr>
      <vt:lpstr>Which variables are important?</vt:lpstr>
      <vt:lpstr>Define market segments</vt:lpstr>
      <vt:lpstr>Define market segments</vt:lpstr>
      <vt:lpstr>Take away messages</vt:lpstr>
      <vt:lpstr>Customers Sentiment</vt:lpstr>
      <vt:lpstr>Customers Sentiment</vt:lpstr>
      <vt:lpstr>Customers Sentiment</vt:lpstr>
      <vt:lpstr>Sentiment Analysis</vt:lpstr>
      <vt:lpstr>Take away messages</vt:lpstr>
      <vt:lpstr>Correlation of variables</vt:lpstr>
      <vt:lpstr>Correlation of variables</vt:lpstr>
      <vt:lpstr>Modelling Loyalty points</vt:lpstr>
      <vt:lpstr>Conclusions</vt:lpstr>
      <vt:lpstr>Thanks for your kind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Corrado Locati</dc:creator>
  <cp:lastModifiedBy>Corrado Locati</cp:lastModifiedBy>
  <cp:revision>1</cp:revision>
  <dcterms:created xsi:type="dcterms:W3CDTF">2024-12-12T14:02:44Z</dcterms:created>
  <dcterms:modified xsi:type="dcterms:W3CDTF">2025-06-24T07:18:29Z</dcterms:modified>
</cp:coreProperties>
</file>